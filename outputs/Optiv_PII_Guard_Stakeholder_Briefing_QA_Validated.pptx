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8383aa22c74d3e" /><Relationship Type="http://schemas.openxmlformats.org/officeDocument/2006/relationships/extended-properties" Target="/docProps/app.xml" Id="Rf43ec0869bb54df3" /><Relationship Type="http://schemas.openxmlformats.org/officeDocument/2006/relationships/officeDocument" Target="/ppt/presentation.xml" Id="R15de70d331a046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3526825e6349ca"/>
  </p:sldMasterIdLst>
  <p:notesMasterIdLst>
    <p:notesMasterId xmlns:r="http://schemas.openxmlformats.org/officeDocument/2006/relationships" r:id="R21796ab2314541b8"/>
  </p:notesMasterIdLst>
  <p:sldIdLst>
    <p:sldId xmlns:r="http://schemas.openxmlformats.org/officeDocument/2006/relationships" id="256" r:id="R01e68b025dd2492a"/>
    <p:sldId xmlns:r="http://schemas.openxmlformats.org/officeDocument/2006/relationships" id="257" r:id="R3a4a99aedba04625"/>
    <p:sldId xmlns:r="http://schemas.openxmlformats.org/officeDocument/2006/relationships" id="258" r:id="Ra5c347a4f74341d6"/>
    <p:sldId xmlns:r="http://schemas.openxmlformats.org/officeDocument/2006/relationships" id="259" r:id="Rfaa4111d47154813"/>
    <p:sldId xmlns:r="http://schemas.openxmlformats.org/officeDocument/2006/relationships" id="260" r:id="R075b08adbd9a4613"/>
    <p:sldId xmlns:r="http://schemas.openxmlformats.org/officeDocument/2006/relationships" id="261" r:id="R9e623f4e0ecd47ac"/>
    <p:sldId xmlns:r="http://schemas.openxmlformats.org/officeDocument/2006/relationships" id="262" r:id="R833388feffdc4745"/>
    <p:sldId xmlns:r="http://schemas.openxmlformats.org/officeDocument/2006/relationships" id="263" r:id="R69ecfe2a123c4a4e"/>
    <p:sldId xmlns:r="http://schemas.openxmlformats.org/officeDocument/2006/relationships" id="264" r:id="R71825bd82e524ca0"/>
    <p:sldId xmlns:r="http://schemas.openxmlformats.org/officeDocument/2006/relationships" id="265" r:id="R2f9a8813c6ff473e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2a5934667461c" /><Relationship Type="http://schemas.openxmlformats.org/officeDocument/2006/relationships/slideMaster" Target="/ppt/slideMasters/slideMaster1.xml" Id="R403526825e6349ca" /><Relationship Type="http://schemas.openxmlformats.org/officeDocument/2006/relationships/notesMaster" Target="/ppt/notesMasters/notesMaster1.xml" Id="R21796ab2314541b8" /><Relationship Type="http://schemas.openxmlformats.org/officeDocument/2006/relationships/presProps" Target="/ppt/presProps.xml" Id="R65ea495f034b4e6e" /><Relationship Type="http://schemas.openxmlformats.org/officeDocument/2006/relationships/viewProps" Target="/ppt/viewProps.xml" Id="R20b980de06ed4027" /><Relationship Type="http://schemas.openxmlformats.org/officeDocument/2006/relationships/tableStyles" Target="/ppt/tableStyles.xml" Id="Rd8b89a1a6edd4592" /><Relationship Type="http://schemas.openxmlformats.org/officeDocument/2006/relationships/slide" Target="/ppt/slides/slide1.xml" Id="R01e68b025dd2492a" /><Relationship Type="http://schemas.openxmlformats.org/officeDocument/2006/relationships/slide" Target="/ppt/slides/slide2.xml" Id="R3a4a99aedba04625" /><Relationship Type="http://schemas.openxmlformats.org/officeDocument/2006/relationships/slide" Target="/ppt/slides/slide3.xml" Id="Ra5c347a4f74341d6" /><Relationship Type="http://schemas.openxmlformats.org/officeDocument/2006/relationships/slide" Target="/ppt/slides/slide4.xml" Id="Rfaa4111d47154813" /><Relationship Type="http://schemas.openxmlformats.org/officeDocument/2006/relationships/slide" Target="/ppt/slides/slide5.xml" Id="R075b08adbd9a4613" /><Relationship Type="http://schemas.openxmlformats.org/officeDocument/2006/relationships/slide" Target="/ppt/slides/slide6.xml" Id="R9e623f4e0ecd47ac" /><Relationship Type="http://schemas.openxmlformats.org/officeDocument/2006/relationships/slide" Target="/ppt/slides/slide7.xml" Id="R833388feffdc4745" /><Relationship Type="http://schemas.openxmlformats.org/officeDocument/2006/relationships/slide" Target="/ppt/slides/slide8.xml" Id="R69ecfe2a123c4a4e" /><Relationship Type="http://schemas.openxmlformats.org/officeDocument/2006/relationships/slide" Target="/ppt/slides/slide9.xml" Id="R71825bd82e524ca0" /><Relationship Type="http://schemas.openxmlformats.org/officeDocument/2006/relationships/slide" Target="/ppt/slides/slide10.xml" Id="R2f9a8813c6ff47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eec276d21645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38964a5a44933" /><Relationship Type="http://schemas.openxmlformats.org/officeDocument/2006/relationships/notesMaster" Target="/ppt/notesMasters/notesMaster1.xml" Id="Rd6927569ecf44a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2ce8d3b6ae4e76" /><Relationship Type="http://schemas.openxmlformats.org/officeDocument/2006/relationships/notesMaster" Target="/ppt/notesMasters/notesMaster1.xml" Id="R674828e2980445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d0ad435c3445be" /><Relationship Type="http://schemas.openxmlformats.org/officeDocument/2006/relationships/notesMaster" Target="/ppt/notesMasters/notesMaster1.xml" Id="Re594dbc951c447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b689a57dc84541" /><Relationship Type="http://schemas.openxmlformats.org/officeDocument/2006/relationships/notesMaster" Target="/ppt/notesMasters/notesMaster1.xml" Id="Rfcd430e482b04f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9ff37d265643f6" /><Relationship Type="http://schemas.openxmlformats.org/officeDocument/2006/relationships/notesMaster" Target="/ppt/notesMasters/notesMaster1.xml" Id="R4839a2322e5446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edf49592c848d9" /><Relationship Type="http://schemas.openxmlformats.org/officeDocument/2006/relationships/notesMaster" Target="/ppt/notesMasters/notesMaster1.xml" Id="R83c227984f124c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6674d3ec5b4376" /><Relationship Type="http://schemas.openxmlformats.org/officeDocument/2006/relationships/notesMaster" Target="/ppt/notesMasters/notesMaster1.xml" Id="R3f5d56c2c60e4c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d2375e03aa47f5" /><Relationship Type="http://schemas.openxmlformats.org/officeDocument/2006/relationships/notesMaster" Target="/ppt/notesMasters/notesMaster1.xml" Id="R7a3a9804e5ee45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e7e4450c6b4dd5" /><Relationship Type="http://schemas.openxmlformats.org/officeDocument/2006/relationships/notesMaster" Target="/ppt/notesMasters/notesMaster1.xml" Id="R19ab2e96360e46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8b66ed29e5440d" /><Relationship Type="http://schemas.openxmlformats.org/officeDocument/2006/relationships/notesMaster" Target="/ppt/notesMasters/notesMaster1.xml" Id="Rd71f965915d041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dedf0ae114f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7692b142a4f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e55a6116b4e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ced57b56b49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9dd3720bc4b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3b35d43c846f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0e24773194d9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eaf0a782f4bb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89a75da6042a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eaa0ce0ea4af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b6802f8c4431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7B057B-589C-4D78-8655-C586C73B6ED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A7585A8-7E9E-47FF-9906-E295BF4783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378F6C-F3B5-4552-A8C5-E2C30B0334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57D409-6223-4AB8-8F85-B2F1C24F01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E0B628-1EFF-4428-89DF-BF8BA4054E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A1B5A4-C6BE-47CA-BB53-F4B6E2500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BE9586-5392-44F7-8BF5-A8245DFE3C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178E81-199E-49CB-AEA7-654F052F45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840C86-6E08-4026-8DB0-AE753C25FB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A1AE34-84D9-406C-B11B-4FBD0BC19A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300A13-7DB1-4C38-A58F-E77A0E15B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7A6DC7-1F14-4D81-B39D-340C47DE87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D06F63-B556-494E-8AA8-D88CFFD9CB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7E182B-B078-4317-BEDA-01937ED95F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3F2D02-1401-4944-B3F4-7E3DB50923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788CDA-A835-43BF-AA19-AF06693AB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5D8DC1-EA4B-4AB9-B607-F61D539731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137AC88-857C-4D2A-BFEA-B6D1FCD6675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59B6C5-D13D-4BAD-9BAA-96511B2797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EA93A57-9285-4E1B-AEC7-151E152CD6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A615C8-E54E-4A92-B31C-93EAA782C4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531ABF-56DB-443B-9A3E-1427E5B905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719DE8-B3C6-41AE-A2BE-74ABD4E941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EEDD46-59C4-435E-8D1C-6AF6884D924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F035DD3-371D-4548-924D-805C4020D1D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1F20576-904A-439C-8606-DFC3292868F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0041398-D810-49C4-8741-62BD4FDC45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559CE55-608C-4225-BE99-DED74BC0E5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13DD2B4-15FD-4645-99E8-8E13FC7A4D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52C6B8-5D72-4790-A5A7-838EDAF3B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41187A7-338D-4F9C-978E-9BAC50CE72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3E8547D-2700-4346-87AF-4EF8B724EA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874AB24-2076-4076-A41A-90BE8A955A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2DACE73-EEB9-4E0B-9230-10B5D2342A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0B24577-F73C-4BAE-893A-4BE0BBDD0E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48786C-5ECD-4661-96CF-01A49B6B0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44EE7E-F1E2-4BB9-9F15-32C482E47E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7E32664-065B-4DCD-A247-6F4F53AF88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8AACA2E-A924-49C9-BB95-7285281C6D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966C222-BF7C-43DB-A90E-E443397F1E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858C8A-BBAC-410C-AA9E-B683462BE9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E3563D-EFC0-487C-9C62-A3BB8C22DC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B45164-E8F9-46D7-AAB0-2DA931FC7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9760E44-7292-4FA2-BD7E-F8500E3F69C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3DB450-6287-4185-849B-3F45AD58AF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500D329-D9D9-4002-8C06-0F8634A528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882C47D-D78C-43D0-8041-8774B3886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66288C0-C3A8-4CC0-A653-DFEC6834A0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5EC014-D94F-4968-9988-7DBA15A9CD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A2D778-49A6-4979-9449-D08D6825B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038688-BF62-4478-8AFE-EBE2EC54F1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0408F6-F209-4629-8A05-C519B0F909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B7A89F-76A6-4421-9F6B-588972F66E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C9AEFD5-85AF-4B5D-992B-002E810033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A4C891-E428-4F3C-9E6C-4B1E812501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8D0D9A-9BAF-4491-8859-3DD04EFBDB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C0AA3E-B677-421E-8D4B-96B14A8739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8FDC5A-15CD-42E3-8951-0E8BE8C631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53368be00420a" /><Relationship Type="http://schemas.openxmlformats.org/officeDocument/2006/relationships/slideLayout" Target="/ppt/slideLayouts/slideLayout1.xml" Id="Rbb1d285267e645f6" /><Relationship Type="http://schemas.openxmlformats.org/officeDocument/2006/relationships/slideLayout" Target="/ppt/slideLayouts/slideLayout2.xml" Id="Rd1b2bd47c8054fec" /><Relationship Type="http://schemas.openxmlformats.org/officeDocument/2006/relationships/slideLayout" Target="/ppt/slideLayouts/slideLayout3.xml" Id="R4e702a7ff8c34e29" /><Relationship Type="http://schemas.openxmlformats.org/officeDocument/2006/relationships/slideLayout" Target="/ppt/slideLayouts/slideLayout4.xml" Id="R0567451873eb415d" /><Relationship Type="http://schemas.openxmlformats.org/officeDocument/2006/relationships/slideLayout" Target="/ppt/slideLayouts/slideLayout5.xml" Id="R6b300d43f5204cb7" /><Relationship Type="http://schemas.openxmlformats.org/officeDocument/2006/relationships/slideLayout" Target="/ppt/slideLayouts/slideLayout6.xml" Id="R6bc4fd1ae38e4d4b" /><Relationship Type="http://schemas.openxmlformats.org/officeDocument/2006/relationships/slideLayout" Target="/ppt/slideLayouts/slideLayout7.xml" Id="Rd857164b20ff425d" /><Relationship Type="http://schemas.openxmlformats.org/officeDocument/2006/relationships/slideLayout" Target="/ppt/slideLayouts/slideLayout8.xml" Id="Rd0e95a2277134f3e" /><Relationship Type="http://schemas.openxmlformats.org/officeDocument/2006/relationships/slideLayout" Target="/ppt/slideLayouts/slideLayout9.xml" Id="R35a99e186f0a49d5" /><Relationship Type="http://schemas.openxmlformats.org/officeDocument/2006/relationships/slideLayout" Target="/ppt/slideLayouts/slideLayout10.xml" Id="Re4e1b7e4a07649c5" /><Relationship Type="http://schemas.openxmlformats.org/officeDocument/2006/relationships/slideLayout" Target="/ppt/slideLayouts/slideLayout11.xml" Id="R3271a4e8e87b4d5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F2D1711-2E48-41C2-8C8D-C297B80A1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CE33BC-FAC5-4612-9154-E31DC3B864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2244ED-67D8-4784-8414-1A8AAFDF270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6F1970-E945-4E8E-9697-4A632F69304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2555CD-C47A-493D-835E-3388C5D73A4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1d285267e645f6"/>
    <p:sldLayoutId xmlns:r="http://schemas.openxmlformats.org/officeDocument/2006/relationships" id="2147483650" r:id="Rd1b2bd47c8054fec"/>
    <p:sldLayoutId xmlns:r="http://schemas.openxmlformats.org/officeDocument/2006/relationships" id="2147483651" r:id="R4e702a7ff8c34e29"/>
    <p:sldLayoutId xmlns:r="http://schemas.openxmlformats.org/officeDocument/2006/relationships" id="2147483652" r:id="R0567451873eb415d"/>
    <p:sldLayoutId xmlns:r="http://schemas.openxmlformats.org/officeDocument/2006/relationships" id="2147483653" r:id="R6b300d43f5204cb7"/>
    <p:sldLayoutId xmlns:r="http://schemas.openxmlformats.org/officeDocument/2006/relationships" id="2147483654" r:id="R6bc4fd1ae38e4d4b"/>
    <p:sldLayoutId xmlns:r="http://schemas.openxmlformats.org/officeDocument/2006/relationships" id="2147483655" r:id="Rd857164b20ff425d"/>
    <p:sldLayoutId xmlns:r="http://schemas.openxmlformats.org/officeDocument/2006/relationships" id="2147483656" r:id="Rd0e95a2277134f3e"/>
    <p:sldLayoutId xmlns:r="http://schemas.openxmlformats.org/officeDocument/2006/relationships" id="2147483657" r:id="R35a99e186f0a49d5"/>
    <p:sldLayoutId xmlns:r="http://schemas.openxmlformats.org/officeDocument/2006/relationships" id="2147483658" r:id="Re4e1b7e4a07649c5"/>
    <p:sldLayoutId xmlns:r="http://schemas.openxmlformats.org/officeDocument/2006/relationships" id="2147483659" r:id="R3271a4e8e87b4d5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a520d3e6e44024" /><Relationship Type="http://schemas.openxmlformats.org/officeDocument/2006/relationships/notesSlide" Target="/ppt/notesSlides/notesSlide1.xml" Id="R33ebd233205645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925e4f05ff4d73" /><Relationship Type="http://schemas.openxmlformats.org/officeDocument/2006/relationships/notesSlide" Target="/ppt/notesSlides/notesSlide2.xml" Id="R3372cac5b66943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8949805a7d46d1" /><Relationship Type="http://schemas.openxmlformats.org/officeDocument/2006/relationships/notesSlide" Target="/ppt/notesSlides/notesSlide3.xml" Id="R3f0c1d8d4c9541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c78fe63ca84de2" /><Relationship Type="http://schemas.openxmlformats.org/officeDocument/2006/relationships/notesSlide" Target="/ppt/notesSlides/notesSlide4.xml" Id="Ra7c2555d1192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5a021f33c448f9" /><Relationship Type="http://schemas.openxmlformats.org/officeDocument/2006/relationships/notesSlide" Target="/ppt/notesSlides/notesSlide5.xml" Id="Rb09f670fbe6a47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da629e2acd4f01" /><Relationship Type="http://schemas.openxmlformats.org/officeDocument/2006/relationships/notesSlide" Target="/ppt/notesSlides/notesSlide6.xml" Id="R12e39ffe7fad45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fec989b70d49a4" /><Relationship Type="http://schemas.openxmlformats.org/officeDocument/2006/relationships/notesSlide" Target="/ppt/notesSlides/notesSlide7.xml" Id="Rc166c02509cc4e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ef415c9c3049a2" /><Relationship Type="http://schemas.openxmlformats.org/officeDocument/2006/relationships/notesSlide" Target="/ppt/notesSlides/notesSlide8.xml" Id="R9b12d9345ea14f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0da147efeb46a7" /><Relationship Type="http://schemas.openxmlformats.org/officeDocument/2006/relationships/notesSlide" Target="/ppt/notesSlides/notesSlide9.xml" Id="R4be51bc28f444d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d04f970c494879" /><Relationship Type="http://schemas.openxmlformats.org/officeDocument/2006/relationships/notesSlide" Target="/ppt/notesSlides/notesSlide10.xml" Id="R19f35759136f40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3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E78E53-C723-4100-9EF9-0097462A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28016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3277B7-54C4-4033-9A03-4D864B78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8580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PII GUARD · PRIVACY GATEWAY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A0B721-9F58-4ABD-BBA2-B96276D4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8016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Protecting Cadence data before AI use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D657E5B-7669-4752-8732-D3626B14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71800"/>
            <a:ext cx="9784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Local document extraction, traceable PII review, and a fail-closed handoff decision.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1929A6-0400-4D13-8887-F02FB196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6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DD8E4"/>
                </a:solidFill>
                <a:latin typeface="Aptos"/>
                <a:ea typeface="Aptos"/>
                <a:cs typeface="Aptos"/>
              </a:defRPr>
            </a:pPr>
            <a:r>
              <a:t>Stakeholder briefing | Prototype built against the supplied case materials</a:t>
            </a:r>
          </a:p>
        </p:txBody>
      </p:sp>
    </p:spTree>
    <p:extLst>
      <p:ext uri="{BB962C8B-B14F-4D97-AF65-F5344CB8AC3E}">
        <p14:creationId xmlns:p14="http://schemas.microsoft.com/office/powerpoint/2010/main" val="2114568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6907D5-CFED-45FB-80AB-9A36540E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F1C89E-DD3F-4A50-BB01-1A164494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WHY THIS CONTROL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659D47-2787-4A7A-A910-BE56489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The business problem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44BBBE5-8FC8-4B59-A6C3-85A49D3D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Optiv-inspired case study prototype · Not official Optiv material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875F3B-4720-4CD0-A89F-7292A9D0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27631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B7DAA3-4820-4182-9D2E-25E0976A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08760"/>
            <a:ext cx="10424159" cy="10058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Third-party risk workflows and organizational records may contain personal or financial identifiers.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CDBCF8E-C969-41E7-A740-17EA83D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9191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DAC5AB-394E-4EA3-BE48-AACEBEC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60320"/>
            <a:ext cx="10424159" cy="10058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Moving raw documents into AI tools can expose sensitive data and break audit traceability.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37329F-DBA9-4256-AFBB-2CABB8B5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2F31066-16CC-42BD-90C6-02A7998B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11879"/>
            <a:ext cx="10424159" cy="10058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The control must preserve source context, expose uncertainty, and block when extraction or review is incomplete.</a:t>
            </a:r>
          </a:p>
        </p:txBody>
      </p:sp>
    </p:spTree>
    <p:extLst>
      <p:ext uri="{BB962C8B-B14F-4D97-AF65-F5344CB8AC3E}">
        <p14:creationId xmlns:p14="http://schemas.microsoft.com/office/powerpoint/2010/main" val="7130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B2D2F6E-C4FF-40F3-BB22-E5A84180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8E783B-A8C1-44D0-B818-B34F0CC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END-TO-END FLOW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0D211B6-CB99-491E-B168-63AC1345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Solution blueprint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335D0F-9E9B-4F86-9CE6-001EA46C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Optiv-inspired case study prototype · Not official Optiv material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30308E2-1F8F-42B3-9E7A-049B508E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160020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9190723-130E-4D3C-829F-1C9CBC7D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12848"/>
            <a:ext cx="1325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Upload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3F463F1-EBA5-407B-B7AE-CE1960FE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1325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PDF · DOCX</a:t>
            </a:r>
            <a:br/>
            <a:r>
              <a:t>PPTX · TXT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52C01D-C88E-4EBF-BF09-9D697FAE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7860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DF121AB-6D0C-48BF-B98C-5A4A5C5D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920240"/>
            <a:ext cx="160020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286806-103C-4A25-9D4E-3839A1A7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212848"/>
            <a:ext cx="1325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Validate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CFE96F2-745B-426B-A4AF-11C2F124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788920"/>
            <a:ext cx="1325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Type · size</a:t>
            </a:r>
            <a:br/>
            <a:r>
              <a:t>container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6D3C1E1-6914-4183-8F24-F77CAC89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57860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9AEA90A-4D75-4BD9-A042-DE29A10A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920240"/>
            <a:ext cx="160020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4437AB5-8685-4699-BE28-A1ED90B9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212848"/>
            <a:ext cx="1325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Extract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EEDC0E3-7CB1-4DE7-9AFD-56FEB52B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788920"/>
            <a:ext cx="1325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Page · paragraph</a:t>
            </a:r>
            <a:br/>
            <a:r>
              <a:t>slide · table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C4268A0-4DBC-494D-877D-A7302FA9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57860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FAE5021-69D8-4C54-B56F-FB1FC69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920240"/>
            <a:ext cx="160020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3A3096-77AB-46DE-9DD8-FD256869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212848"/>
            <a:ext cx="1325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Detect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1B05F50-E72C-496B-9F2B-44804D86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88920"/>
            <a:ext cx="1325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Rules + context</a:t>
            </a:r>
            <a:br/>
            <a:r>
              <a:t>with offsets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9E6A67D-8859-4A9E-B9D9-F9211439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257860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0D47753-F926-4AD3-85AC-86E0352B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920240"/>
            <a:ext cx="160020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8EB4C68-F28E-4501-A550-BCB22D48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12848"/>
            <a:ext cx="1325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Redact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156FC9E-F948-49D2-AADC-E2C28F4C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788920"/>
            <a:ext cx="1325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Span replacement</a:t>
            </a:r>
            <a:br/>
            <a:r>
              <a:t>with audit trail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847F3C3-4987-487E-B91C-D867CA1B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4" y="257860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A6E4E4CD-9B83-4542-B241-EDE60379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920240"/>
            <a:ext cx="160020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89A2A4E-88F3-424D-AEA4-504B4B5D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212848"/>
            <a:ext cx="1325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Gateway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2B763CA-D6DE-4BF5-97A3-151FC3E4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788920"/>
            <a:ext cx="1325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Allow only safe</a:t>
            </a:r>
            <a:br/>
            <a:r>
              <a:t>review-free text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58DAA7A-7AD4-49F4-94EA-846504BA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Any extraction gap, OCR failure, unresolved finding, or validation failure blocks the simulated release.</a:t>
            </a:r>
          </a:p>
        </p:txBody>
      </p:sp>
    </p:spTree>
    <p:extLst>
      <p:ext uri="{BB962C8B-B14F-4D97-AF65-F5344CB8AC3E}">
        <p14:creationId xmlns:p14="http://schemas.microsoft.com/office/powerpoint/2010/main" val="1301305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942222E-D8C1-4D7B-B133-73482B21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952E74A-3FE6-4C23-9927-97C7250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MODULAR PIPELINE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E801C2-BB7A-4F8E-83C7-1BC1E763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Technical architecture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789F37-9A22-4875-9B1C-12071A5B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Optiv-inspired case study prototype · Not official Optiv material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2457726-F2CC-4C3B-9B95-7AA757E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0"/>
            <a:ext cx="16002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C2E39F-08AE-46C8-B77D-20E59F1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Streamlit UI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847905D-949E-4ED0-80BF-490E0C2B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32888"/>
            <a:ext cx="1362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Upload · filters</a:t>
            </a:r>
            <a:br/>
            <a:r>
              <a:t>review · downloads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A818612-55B0-4F3D-9CAF-EEAA4F82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39572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784DF0-F40C-4C58-B654-6603EDA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645920"/>
            <a:ext cx="16002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04D9B5E-17CE-4716-A6D9-5235803A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1938528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Validation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E64231-95E8-4DE0-A312-1B0221AD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532888"/>
            <a:ext cx="1362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Type · size</a:t>
            </a:r>
            <a:br/>
            <a:r>
              <a:t>signature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3C04CB5-0A62-4C0A-8F42-A233772E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39572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A3B7E9F-886F-4F3E-ABA3-33CC780F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645920"/>
            <a:ext cx="16002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294345C-3D14-4586-A5FF-DC98732A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1938528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Extractors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75AC7DB-C0DB-4497-B262-64D4A6CA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32888"/>
            <a:ext cx="1362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PDF / OCR</a:t>
            </a:r>
            <a:br/>
            <a:r>
              <a:t>DOCX · PPTX · TXT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2E43010-3F8F-463A-843C-E19E83F0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39572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A0F5FA1-7E60-4034-A518-1616B41B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645920"/>
            <a:ext cx="16002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736825D-B703-43D9-9643-F2EF2ADF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938528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Detection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62F29AD-461B-4E6B-86E4-AC98F87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532888"/>
            <a:ext cx="1362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Rules + labels</a:t>
            </a:r>
            <a:br/>
            <a:r>
              <a:t>offsets + confidence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1A12616-8F9E-4515-A863-7AB4B098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239572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9125D79-97FD-4EA1-8CB3-3883DD4E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645920"/>
            <a:ext cx="16002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D8655AA-5084-477F-B65A-8A47752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938528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Redaction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F57B448-D3EC-4E47-A66E-61FB5F65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532888"/>
            <a:ext cx="1362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Span replacement</a:t>
            </a:r>
            <a:br/>
            <a:r>
              <a:t>source trace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0645D9E-0CD0-4F1C-A943-01250DCC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4" y="239572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853B9529-3C67-4162-A61D-1297916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645920"/>
            <a:ext cx="16002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0712317-12C8-4D8F-8410-C639226A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38528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Gateway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BFE2E6-67A5-4CDC-8C24-A87EA444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532888"/>
            <a:ext cx="1362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Fail closed</a:t>
            </a:r>
            <a:br/>
            <a:r>
              <a:t>simulated handoff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18DFA574-0965-4A54-9817-AF7C3060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10698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DA04AA3-11C6-4DD0-9D6B-D5F3A9C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7408"/>
            <a:ext cx="10241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Trust boundary: original bytes stay local; only sanitized text can cross the gateway, after validation and review.</a:t>
            </a:r>
          </a:p>
        </p:txBody>
      </p:sp>
    </p:spTree>
    <p:extLst>
      <p:ext uri="{BB962C8B-B14F-4D97-AF65-F5344CB8AC3E}">
        <p14:creationId xmlns:p14="http://schemas.microsoft.com/office/powerpoint/2010/main" val="115675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3D5BF6-C630-475F-B362-A953CFED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0D7058-E300-4C91-B6F5-658BC9DE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FORMAT-AWARE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46B070B-2EC6-4E98-AADF-488B45D0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Extraction strategy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71D63AF-9D12-4828-B85D-DDD0C077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Optiv-inspired case study prototype · Not official Optiv material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69A72BC-5E42-46E3-9F63-9766DECD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4747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FEC5E3A-5BB7-4437-B2D0-91A16921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FF04D11-63CF-45C5-97A0-438B8294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73351"/>
            <a:ext cx="3090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PDF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DE57D54-CE2F-4EBC-B8AD-8BFEA95C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130552"/>
            <a:ext cx="309067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Text layer first. Sparse image-backed pages trigger Tesseract OCR; OCR failures and uncertain pages block.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ECE425F-F8EC-421C-884E-307127B1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8760"/>
            <a:ext cx="34747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8217462-FC12-4284-AA8F-F5D9BEBC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876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2F792F-A291-47CF-BA58-EDA0D18F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673351"/>
            <a:ext cx="3090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DOCX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123DCE3-E143-4EA1-88C4-3060A71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130552"/>
            <a:ext cx="309067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Paragraphs and tables are extracted in order. Embedded images are detected and flagged for review.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A226F52-3CBB-4EAB-B784-B1DCB12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508760"/>
            <a:ext cx="34747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727D26E-71F1-4C6C-99E2-BACC4148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50876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5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D8B5D3-08ED-45F0-9910-ADFAC739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673351"/>
            <a:ext cx="3090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PPTX + TXT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2D6EE5B-0D1A-4C18-B703-9231ACBF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30552"/>
            <a:ext cx="3090672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Slide/shape/table references are retained. Image shapes are flagged; TXT uses UTF-8.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869950C-A591-434A-9C55-030901D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10607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Observed sample structure: 35-page scanned PDF · DOCX 402 paragraphs / 16 tables / 41 images · PPTX 9 slides / 3 tables / 1 image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4617D97-AFE8-4585-B5D0-67EDA453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10515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Source-document export is not claimed: sanitized downloads contain extracted text only.</a:t>
            </a:r>
          </a:p>
        </p:txBody>
      </p:sp>
    </p:spTree>
    <p:extLst>
      <p:ext uri="{BB962C8B-B14F-4D97-AF65-F5344CB8AC3E}">
        <p14:creationId xmlns:p14="http://schemas.microsoft.com/office/powerpoint/2010/main" val="218625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32287E-33B0-4317-9658-A6FCA651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DCA0AE4-9783-4F69-AA74-AD8E528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LAYERED COVERAGE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8DFFCB8-5CBF-4E01-BF51-731EE2B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PII detection and classification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848AD5E-1BBB-4A5E-9DCA-CBEBA415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Optiv-inspired case study prototype · Not official Optiv material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C8E6BE2-520E-449D-A248-464E1A6B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347472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CB9DC2-7A33-46E6-B9A4-CA058623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7315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3DEE0B8-437A-406F-8F35-85702045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27632"/>
            <a:ext cx="3090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Structured rules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AB8590-BED2-47BA-A31E-60990D3C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84832"/>
            <a:ext cx="3090672" cy="1362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Email, phone, labeled employee/account/government identifiers. Anchored spans prevent broad number matching.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A22FAA8-40DF-47D3-83AC-24F32385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63040"/>
            <a:ext cx="347472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79252D-C744-4544-8A7B-BC225FE8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63040"/>
            <a:ext cx="7315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4DE28D2-5061-4441-A3F2-F4BEDEC3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627632"/>
            <a:ext cx="3090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Context labels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642479-9D58-40E6-A5AE-6F6F46A5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084832"/>
            <a:ext cx="3090672" cy="1362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Names and addresses require explicit labels. Medium-confidence findings require human review.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406DBDE-87BC-4E04-9F54-81834E56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63040"/>
            <a:ext cx="347472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FCAF35B-30DE-4623-8292-713E0F42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63040"/>
            <a:ext cx="7315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480095F-2F8D-4DC4-A8A4-0FF3C6F9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627632"/>
            <a:ext cx="3090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Provenance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C1A812D-81ED-4A14-BAC0-44605CF2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084832"/>
            <a:ext cx="3090672" cy="1362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Every finding records type, confidence, detector, file, segment, and character range. Values are hidden by default.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1A92F24-62F0-4F5F-959A-0CB8586F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519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No-findings does not mean no PII. Broad NER and multilingual coverage are future work.</a:t>
            </a:r>
          </a:p>
        </p:txBody>
      </p:sp>
    </p:spTree>
    <p:extLst>
      <p:ext uri="{BB962C8B-B14F-4D97-AF65-F5344CB8AC3E}">
        <p14:creationId xmlns:p14="http://schemas.microsoft.com/office/powerpoint/2010/main" val="349619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8AC3974-FBDD-4571-BF0E-E48D90D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6CEAAE3-CBDD-46C4-AB90-CA1A5FD8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RELEASE CONTROL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8ED84D-3478-430D-8992-CD54803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Redaction and privacy gateway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E0971D-2FD0-4D79-B96C-5DDD39E6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Optiv-inspired case study prototype · Not official Optiv material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AE7623-A210-4B95-BD05-D3E2A8B5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27631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DD73E3A-BF93-4A81-B27A-FB26E628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08760"/>
            <a:ext cx="10424159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Redaction replaces detected spans from right to left to preserve offsets and surrounding text.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16A4CF3-8C9E-4A56-8C17-21DA0C1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79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DBD88B-8689-49A1-B9A5-64762F70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50008"/>
            <a:ext cx="10424159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The gateway releases only when extraction, detection, validation, and required review are complete.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F5667CB-B6A9-416D-9B63-9E7BA9FF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101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7D3B053-205E-4DE0-869D-F5EA2833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91256"/>
            <a:ext cx="10424159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An explicit validation failure demo proves the handoff blocks and eligible payload is cleared.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6140E8C-DEA8-4E20-979D-7E793585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51376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CC823F-4D05-4DA0-8385-916BF848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32504"/>
            <a:ext cx="10424159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All processing is local; the downstream handoff is simulated and receives sanitized text only.</a:t>
            </a:r>
          </a:p>
        </p:txBody>
      </p:sp>
    </p:spTree>
    <p:extLst>
      <p:ext uri="{BB962C8B-B14F-4D97-AF65-F5344CB8AC3E}">
        <p14:creationId xmlns:p14="http://schemas.microsoft.com/office/powerpoint/2010/main" val="9567063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4BAD79-0633-427A-861E-C395962B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BF35B46-5A16-4CAF-8C19-6668615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LIVE WALKTHROUGH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63866E2-8F28-439A-9B30-E707CA9A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Demonstration flow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B6B65E-CC19-45E3-BEC3-ECF5476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Optiv-inspired case study prototype · Not official Optiv material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C501EA3-CB77-42A5-AF50-F6757567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27631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FB007F1-C5E6-4FBC-9AB5-30EFF1AD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08760"/>
            <a:ext cx="10424159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Upload a sample and inspect extracted segments with source locations.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44F4D0C-5DA1-4BFA-80C2-DAF70505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23744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B562B38-3E79-4857-92E8-DF3D63D2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04872"/>
            <a:ext cx="10424159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Filter findings, reveal values only when necessary, and inspect sanitized output.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B76E732-3227-47E9-994B-24AE7F74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19856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33BA808-9289-4F9D-B757-27D37975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00984"/>
            <a:ext cx="10424159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Download the JSON/CSV audit trail and sanitized text export.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9EBB85D-626C-4078-A451-3DB267FD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159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E03DAB7-3EDC-4075-8693-6E3D1D9A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97096"/>
            <a:ext cx="10424159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Toggle validation failure and verify the blocked gateway state.</a:t>
            </a:r>
          </a:p>
        </p:txBody>
      </p:sp>
    </p:spTree>
    <p:extLst>
      <p:ext uri="{BB962C8B-B14F-4D97-AF65-F5344CB8AC3E}">
        <p14:creationId xmlns:p14="http://schemas.microsoft.com/office/powerpoint/2010/main" val="15791692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12D4158-8FB4-4ED1-AA93-0393950A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42926D1-AF7B-42A1-836A-FD1AE06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LIMITED FIXTURE EVALUATION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E2762A6-7F8F-4085-A0F9-6963DE02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Measured results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30A93C-06CE-4F56-9426-20C4D6C8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Optiv-inspired case study prototype · Not official Optiv material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2CCE58-D56A-4C4E-9841-7780C641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PRECISION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5DBBD5-63D6-4DA9-95FF-C03E7AA6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100%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52FD94B-9ACC-450C-BBB1-D28FC5F1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8288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RECALL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1A18F7B-ED32-43BA-8099-310C60F2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33172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100%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F1DD4E-B89B-4BF1-AC4D-DCFC6A15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F1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897377-72F3-4F2C-9727-5C691B1C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172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100%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872934-ACF8-44F6-963C-6157C7DD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828800"/>
            <a:ext cx="2468880" cy="246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FIXTURE CASES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EB6403-C2B4-4904-AAD0-38D515BB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33172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EC85AEE-4F0A-43AB-AEA0-3D5106CE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10515600" cy="337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TP 7, FP 0, FN 0, TN 4 on synthetic fixture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358B0F-3F22-4842-8C1A-61AC16C0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62272"/>
            <a:ext cx="10515600" cy="459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1C3A5C"/>
                </a:solidFill>
                <a:latin typeface="Aptos"/>
                <a:ea typeface="Aptos"/>
                <a:cs typeface="Aptos"/>
              </a:defRPr>
            </a:pPr>
            <a:r>
              <a:t>Supplied docs: 732 segments, OCR on 35/35 policy pages</a:t>
            </a:r>
          </a:p>
          <a:p xmlns:a="http://schemas.openxmlformats.org/drawingml/2006/main">
            <a:pPr algn="ctr">
              <a:buNone/>
              <a:defRPr sz="1300" b="1">
                <a:solidFill>
                  <a:srgbClr val="1C3A5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C3A5C"/>
                </a:solidFill>
                <a:latin typeface="Aptos"/>
                <a:ea typeface="Aptos"/>
                <a:cs typeface="Aptos"/>
              </a:rPr>
              <a:t>277 unadjudicated findings, 10 unresolved Office image notices, gateway BLOCK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FA46085-C693-4F62-A788-453710A2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12080"/>
            <a:ext cx="10058400" cy="429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Fixture only: 7 positives, 4 negatives. Synthetic precision/recall/F1 are 100%. Sample-document metrics await human labels. Office images remain unresolved, so release stays blocked.</a:t>
            </a:r>
          </a:p>
        </p:txBody>
      </p:sp>
    </p:spTree>
    <p:extLst>
      <p:ext uri="{BB962C8B-B14F-4D97-AF65-F5344CB8AC3E}">
        <p14:creationId xmlns:p14="http://schemas.microsoft.com/office/powerpoint/2010/main" val="1108139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4CBEB5-7897-421B-BB7A-B58C275F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564569-FC35-4FD5-BB69-09F281FA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t>CONTROL MATURITY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A2FA88-148F-43DD-93EB-95A0CD11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Limitations and next steps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9BDB64-7886-4620-8331-CB4A1FD8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144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Optiv-inspired case study prototype · Not official Optiv material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E83F878-7245-4312-899D-6E4F9902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52578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CDEB423-D313-4CED-99F1-D5418727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7315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5B34C4F-1225-4469-97F9-AE4F9C98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73351"/>
            <a:ext cx="48737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Current boundaries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253B48-66AD-4BD6-BEF0-10141BBB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130552"/>
            <a:ext cx="4873752" cy="2276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No format-preserving redaction. DOCX/PPTX embedded-image OCR is flagged, not processed. OCR needs a Tesseract system install. Rule coverage is narrow.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FAF22F1-2260-47A9-BEC6-13C62EF6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08760"/>
            <a:ext cx="52578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D3A0D-D73B-4877-BF47-C4C504AC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08760"/>
            <a:ext cx="7315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38A6B1-AB09-4A41-98C2-6C0075A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73351"/>
            <a:ext cx="48737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Recommended next steps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E8D64B0-0757-47D8-BFAD-CBFAF35C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30552"/>
            <a:ext cx="4873752" cy="2276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566577"/>
                </a:solidFill>
                <a:latin typeface="Aptos"/>
                <a:ea typeface="Aptos"/>
                <a:cs typeface="Aptos"/>
              </a:defRPr>
            </a:pPr>
            <a:r>
              <a:t>Add contextual NER and organization-specific identifiers; build a manually adjudicated source corpus; safely redact each format; run OCR and independent security review.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CA8C3DC-F4B7-4E3F-8D2E-3396DBBC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38100" rIns="25400" bIns="2540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0F2340"/>
                </a:solidFill>
                <a:latin typeface="Aptos"/>
                <a:ea typeface="Aptos"/>
                <a:cs typeface="Aptos"/>
              </a:defRPr>
            </a:pPr>
            <a:r>
              <a:t>Prototype demonstrates a privacy gate, not a production guarantee of complete PII detection.</a:t>
            </a:r>
          </a:p>
        </p:txBody>
      </p:sp>
    </p:spTree>
    <p:extLst>
      <p:ext uri="{BB962C8B-B14F-4D97-AF65-F5344CB8AC3E}">
        <p14:creationId xmlns:p14="http://schemas.microsoft.com/office/powerpoint/2010/main" val="21291196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2026-10-13T16:32:38.4970000Z</dcterms:created>
  <dcterms:modified xsi:type="dcterms:W3CDTF">2026-10-13T16:32:38.4980000Z</dcterms:modified>
</coreProperties>
</file>